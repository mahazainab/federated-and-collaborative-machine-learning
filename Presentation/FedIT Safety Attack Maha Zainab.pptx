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67" r:id="rId3"/>
    <p:sldId id="257" r:id="rId4"/>
    <p:sldId id="269" r:id="rId5"/>
    <p:sldId id="270" r:id="rId6"/>
    <p:sldId id="259" r:id="rId7"/>
    <p:sldId id="261" r:id="rId8"/>
    <p:sldId id="262" r:id="rId9"/>
    <p:sldId id="260" r:id="rId10"/>
    <p:sldId id="274" r:id="rId11"/>
    <p:sldId id="263" r:id="rId12"/>
    <p:sldId id="264" r:id="rId13"/>
    <p:sldId id="271" r:id="rId14"/>
    <p:sldId id="275" r:id="rId15"/>
    <p:sldId id="272" r:id="rId16"/>
    <p:sldId id="273" r:id="rId17"/>
    <p:sldId id="276" r:id="rId18"/>
    <p:sldId id="265" r:id="rId19"/>
    <p:sldId id="266" r:id="rId20"/>
    <p:sldId id="279" r:id="rId21"/>
    <p:sldId id="280" r:id="rId22"/>
    <p:sldId id="281" r:id="rId23"/>
    <p:sldId id="277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9010E-3200-4086-9926-C7DAAB3C35EB}" type="datetimeFigureOut">
              <a:rPr lang="en-PK" smtClean="0"/>
              <a:t>19/09/2025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C6C40-8388-4C80-AE54-4FB3FCEB03C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57641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74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2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57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60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45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0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82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21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7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15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1512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052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5496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70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78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3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2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397000"/>
            <a:ext cx="5825202" cy="26538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dirty="0"/>
              <a:t>Emerging Safety Attack and Defense in Federated Instruction Tuning of Large Language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3"/>
            <a:ext cx="5825202" cy="1096899"/>
          </a:xfrm>
        </p:spPr>
        <p:txBody>
          <a:bodyPr>
            <a:normAutofit/>
          </a:bodyPr>
          <a:lstStyle/>
          <a:p>
            <a:r>
              <a:t>Authors: Rui Ye, Jingyi Chai, Xiangrui Liu, Yaodong Yang, Yanfeng Wang, Siheng Chen</a:t>
            </a:r>
          </a:p>
          <a:p>
            <a:r>
              <a:t>Conference: ICLR 2025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8B4EECC-F3D6-C5EE-8780-928E1C46AD3F}"/>
              </a:ext>
            </a:extLst>
          </p:cNvPr>
          <p:cNvSpPr txBox="1">
            <a:spLocks/>
          </p:cNvSpPr>
          <p:nvPr/>
        </p:nvSpPr>
        <p:spPr>
          <a:xfrm>
            <a:off x="1282700" y="5187606"/>
            <a:ext cx="5825202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Presented by: Maha Zainab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83841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dirty="0"/>
              <a:t>Understand the concept of Federated Instruction Tuning (</a:t>
            </a:r>
            <a:r>
              <a:rPr dirty="0" err="1"/>
              <a:t>FedIT</a:t>
            </a:r>
            <a:r>
              <a:rPr dirty="0"/>
              <a:t>).</a:t>
            </a:r>
          </a:p>
          <a:p>
            <a:r>
              <a:rPr dirty="0"/>
              <a:t>Recognize the emerging safety risks in </a:t>
            </a:r>
            <a:r>
              <a:rPr dirty="0" err="1"/>
              <a:t>FedIT</a:t>
            </a:r>
            <a:r>
              <a:rPr dirty="0"/>
              <a:t>.</a:t>
            </a:r>
          </a:p>
          <a:p>
            <a:r>
              <a:rPr dirty="0"/>
              <a:t>Analyze how malicious clients can compromise safety.</a:t>
            </a:r>
          </a:p>
          <a:p>
            <a:r>
              <a:rPr dirty="0"/>
              <a:t>Evaluate why existing defenses fail.</a:t>
            </a:r>
          </a:p>
          <a:p>
            <a:r>
              <a:rPr dirty="0"/>
              <a:t>Explore the proposed post-hoc defense strategy and its effectiveness.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Challenge of </a:t>
            </a:r>
            <a:r>
              <a:rPr lang="en-US" b="1" dirty="0" err="1"/>
              <a:t>FedIT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7251" y="1403507"/>
            <a:ext cx="6347714" cy="3880773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Federated Instruction Tuning (</a:t>
            </a:r>
            <a:r>
              <a:rPr dirty="0" err="1"/>
              <a:t>FedIT</a:t>
            </a:r>
            <a:r>
              <a:rPr dirty="0"/>
              <a:t>) allows collaborative training without data sharing.</a:t>
            </a:r>
            <a:endParaRPr lang="en-US" dirty="0"/>
          </a:p>
          <a:p>
            <a:pPr>
              <a:defRPr sz="2000"/>
            </a:pPr>
            <a:r>
              <a:rPr lang="en-US" dirty="0"/>
              <a:t>LLMs need instruction tuning for helpfulness + safety by training on decentralized data.</a:t>
            </a:r>
            <a:endParaRPr dirty="0"/>
          </a:p>
          <a:p>
            <a:pPr>
              <a:defRPr sz="2000"/>
            </a:pPr>
            <a:r>
              <a:rPr dirty="0"/>
              <a:t>Challenge: </a:t>
            </a:r>
            <a:r>
              <a:rPr dirty="0" err="1"/>
              <a:t>FedIT</a:t>
            </a:r>
            <a:r>
              <a:rPr dirty="0"/>
              <a:t> can be vulnerable to attacks.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76C13-77A9-B4FA-4FC0-79AD2D60A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378" y="657360"/>
            <a:ext cx="6347714" cy="1320800"/>
          </a:xfrm>
        </p:spPr>
        <p:txBody>
          <a:bodyPr/>
          <a:lstStyle/>
          <a:p>
            <a:r>
              <a:rPr lang="en-US" dirty="0"/>
              <a:t>The Stealthy Safety Attack</a:t>
            </a:r>
            <a:br>
              <a:rPr lang="en-US" dirty="0"/>
            </a:br>
            <a:endParaRPr lang="en-PK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119A1EA-DC1E-C81B-445C-E9DE1B027F81}"/>
              </a:ext>
            </a:extLst>
          </p:cNvPr>
          <p:cNvSpPr txBox="1">
            <a:spLocks/>
          </p:cNvSpPr>
          <p:nvPr/>
        </p:nvSpPr>
        <p:spPr>
          <a:xfrm>
            <a:off x="799789" y="1339006"/>
            <a:ext cx="6347714" cy="388077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defRPr sz="2000"/>
            </a:pPr>
            <a:r>
              <a:rPr lang="en-US" sz="2000" dirty="0"/>
              <a:t>Malicious clients generate harmful instructions and responses</a:t>
            </a:r>
          </a:p>
          <a:p>
            <a:pPr>
              <a:defRPr sz="2000"/>
            </a:pPr>
            <a:r>
              <a:rPr lang="en-US" sz="2000" dirty="0"/>
              <a:t>Local Models trained on unsafe data</a:t>
            </a:r>
          </a:p>
          <a:p>
            <a:pPr>
              <a:defRPr sz="2000"/>
            </a:pPr>
            <a:r>
              <a:rPr lang="en-US" sz="2000" dirty="0"/>
              <a:t>Global LLM loses safety alignment</a:t>
            </a:r>
          </a:p>
        </p:txBody>
      </p:sp>
    </p:spTree>
    <p:extLst>
      <p:ext uri="{BB962C8B-B14F-4D97-AF65-F5344CB8AC3E}">
        <p14:creationId xmlns:p14="http://schemas.microsoft.com/office/powerpoint/2010/main" val="1628034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3" y="1343726"/>
            <a:ext cx="6347714" cy="3880773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defRPr sz="2200" b="1"/>
            </a:pPr>
            <a:r>
              <a:rPr dirty="0"/>
              <a:t>Can malicious clients compromise safety in </a:t>
            </a:r>
            <a:r>
              <a:rPr dirty="0" err="1"/>
              <a:t>FedIT</a:t>
            </a:r>
            <a:r>
              <a:rPr dirty="0"/>
              <a:t>?</a:t>
            </a:r>
          </a:p>
          <a:p>
            <a:pPr lvl="1">
              <a:defRPr sz="1800"/>
            </a:pPr>
            <a:r>
              <a:rPr dirty="0"/>
              <a:t>Simple unaligned data (harmful instructions → harmful answers) from a few malicious clients can break the global model’s safety alignment.</a:t>
            </a:r>
          </a:p>
          <a:p>
            <a:pPr>
              <a:defRPr sz="2200" b="1"/>
            </a:pPr>
            <a:r>
              <a:rPr dirty="0"/>
              <a:t>Why do existing federated defenses fail?</a:t>
            </a:r>
          </a:p>
          <a:p>
            <a:pPr lvl="1">
              <a:defRPr sz="1800"/>
            </a:pPr>
            <a:r>
              <a:rPr dirty="0"/>
              <a:t>Classical defenses (e.g., robust aggregation) are ineffective; malicious updates appear almost identical to benign ones.</a:t>
            </a:r>
          </a:p>
          <a:p>
            <a:pPr>
              <a:defRPr sz="2200" b="1"/>
            </a:pPr>
            <a:r>
              <a:rPr dirty="0"/>
              <a:t>Can we design an effective defense?</a:t>
            </a:r>
          </a:p>
          <a:p>
            <a:pPr lvl="1">
              <a:defRPr sz="1800"/>
            </a:pPr>
            <a:r>
              <a:rPr dirty="0"/>
              <a:t>A post-hoc, server-side alignment step may restore safety without harming helpfulness.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Existing Defenses Fail?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843067"/>
            <a:ext cx="6347714" cy="3880773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Clients locally fine-tune LLMs on private data.</a:t>
            </a:r>
          </a:p>
          <a:p>
            <a:pPr>
              <a:defRPr sz="2000"/>
            </a:pPr>
            <a:r>
              <a:rPr dirty="0"/>
              <a:t>Server aggregates updates → global LLM.</a:t>
            </a:r>
          </a:p>
          <a:p>
            <a:pPr>
              <a:defRPr sz="2000"/>
            </a:pPr>
            <a:r>
              <a:rPr dirty="0"/>
              <a:t>Goal: leverage diverse data, preserve privacy, and ensure safety.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D50D5-9568-5D7A-355E-C2476531A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" y="4000271"/>
            <a:ext cx="9144000" cy="2869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Existing Defenses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055" y="1185230"/>
            <a:ext cx="6347714" cy="3880773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Classical defenses rely on model-level filtering.</a:t>
            </a:r>
          </a:p>
          <a:p>
            <a:pPr>
              <a:defRPr sz="2000"/>
            </a:pPr>
            <a:r>
              <a:rPr dirty="0"/>
              <a:t>Benign &amp; malicious updates look similar (both 'follow instructions').</a:t>
            </a:r>
          </a:p>
          <a:p>
            <a:pPr>
              <a:defRPr sz="2000"/>
            </a:pPr>
            <a:r>
              <a:rPr dirty="0"/>
              <a:t>Safety drops by up to 70%.</a:t>
            </a:r>
          </a:p>
          <a:p>
            <a:pPr>
              <a:defRPr sz="2000"/>
            </a:pPr>
            <a:r>
              <a:rPr dirty="0"/>
              <a:t>Existing defenses improve safety by ≤4%.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450" y="29497"/>
            <a:ext cx="6347713" cy="1320800"/>
          </a:xfrm>
        </p:spPr>
        <p:txBody>
          <a:bodyPr/>
          <a:lstStyle/>
          <a:p>
            <a:r>
              <a:rPr dirty="0"/>
              <a:t>Proposed Post-Hoc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656254"/>
            <a:ext cx="6347714" cy="3880773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Server runs extra fine-tuning after aggregation.</a:t>
            </a:r>
          </a:p>
          <a:p>
            <a:pPr>
              <a:defRPr sz="2000"/>
            </a:pPr>
            <a:r>
              <a:rPr dirty="0"/>
              <a:t>Generates defense dataset:</a:t>
            </a:r>
          </a:p>
          <a:p>
            <a:pPr>
              <a:defRPr sz="2000"/>
            </a:pPr>
            <a:r>
              <a:rPr dirty="0"/>
              <a:t> - Normal instructions → helpful answers</a:t>
            </a:r>
          </a:p>
          <a:p>
            <a:pPr>
              <a:defRPr sz="2000"/>
            </a:pPr>
            <a:r>
              <a:rPr dirty="0"/>
              <a:t> - Harmful instructions → harmless refusals</a:t>
            </a:r>
          </a:p>
          <a:p>
            <a:pPr>
              <a:defRPr sz="2000"/>
            </a:pPr>
            <a:r>
              <a:rPr dirty="0"/>
              <a:t>Fine-tunes global LLM on this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994"/>
            <a:ext cx="6347713" cy="1320800"/>
          </a:xfrm>
        </p:spPr>
        <p:txBody>
          <a:bodyPr/>
          <a:lstStyle/>
          <a:p>
            <a:r>
              <a:rPr lang="en-US" dirty="0"/>
              <a:t>Proposed Post-Hoc Defense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434427-7F0A-ABAF-6FBB-EE2DCF7BF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9238"/>
            <a:ext cx="9144000" cy="4468761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B67EBF6F-DB6D-87AD-8998-0A2B83961DB6}"/>
              </a:ext>
            </a:extLst>
          </p:cNvPr>
          <p:cNvSpPr/>
          <p:nvPr/>
        </p:nvSpPr>
        <p:spPr>
          <a:xfrm>
            <a:off x="894751" y="743067"/>
            <a:ext cx="362616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rebuchet MS (Body)"/>
                <a:ea typeface="Nunito Semi Bold" pitchFamily="34" charset="-122"/>
                <a:cs typeface="Nunito Semi Bold" pitchFamily="34" charset="-120"/>
              </a:rPr>
              <a:t>Automated Data Generation</a:t>
            </a:r>
            <a:endParaRPr lang="en-US" sz="2200" dirty="0">
              <a:latin typeface="Trebuchet MS (Body)"/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58905A88-6AD4-A0AC-F180-6954E5782778}"/>
              </a:ext>
            </a:extLst>
          </p:cNvPr>
          <p:cNvSpPr/>
          <p:nvPr/>
        </p:nvSpPr>
        <p:spPr>
          <a:xfrm>
            <a:off x="1199551" y="112524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latin typeface="Trebuchet MS (Body)"/>
                <a:ea typeface="PT Sans" pitchFamily="34" charset="-122"/>
                <a:cs typeface="PT Sans" pitchFamily="34" charset="-120"/>
              </a:rPr>
              <a:t>LLM generates harmful/normal instructions</a:t>
            </a:r>
            <a:r>
              <a:rPr lang="en-US" sz="1850" dirty="0"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85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D827726-4080-B3FC-60F3-098735C82EE5}"/>
              </a:ext>
            </a:extLst>
          </p:cNvPr>
          <p:cNvSpPr/>
          <p:nvPr/>
        </p:nvSpPr>
        <p:spPr>
          <a:xfrm>
            <a:off x="1199551" y="1571112"/>
            <a:ext cx="663675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latin typeface="Trebuchet MS (Body)"/>
                <a:ea typeface="PT Sans" pitchFamily="34" charset="-122"/>
                <a:cs typeface="PT Sans" pitchFamily="34" charset="-120"/>
              </a:rPr>
              <a:t>LLM generates harmless responses for harmful instructions, and helpful responses for normal instructions.</a:t>
            </a:r>
            <a:endParaRPr lang="en-US" sz="1850" dirty="0">
              <a:latin typeface="Trebuchet MS (Body)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4CE75B-F38D-E253-26B1-D12507D34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731" y="1497962"/>
            <a:ext cx="7455945" cy="385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037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327" y="1441262"/>
            <a:ext cx="6347714" cy="3880773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Base model: Llama2-7B</a:t>
            </a:r>
          </a:p>
          <a:p>
            <a:pPr>
              <a:defRPr sz="2000"/>
            </a:pPr>
            <a:r>
              <a:rPr dirty="0"/>
              <a:t>Datasets: LMSYS-Chat, </a:t>
            </a:r>
            <a:r>
              <a:rPr dirty="0" err="1"/>
              <a:t>WildChat</a:t>
            </a:r>
            <a:r>
              <a:rPr dirty="0"/>
              <a:t>, Beavertails, </a:t>
            </a:r>
            <a:r>
              <a:rPr dirty="0" err="1"/>
              <a:t>MaliciousGen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10 clients (7 benign, 3 malicious).</a:t>
            </a:r>
          </a:p>
          <a:p>
            <a:pPr>
              <a:defRPr sz="2000"/>
            </a:pPr>
            <a:r>
              <a:rPr dirty="0"/>
              <a:t>Benchmarks: </a:t>
            </a:r>
            <a:r>
              <a:rPr dirty="0" err="1"/>
              <a:t>AdvBench</a:t>
            </a:r>
            <a:r>
              <a:rPr dirty="0"/>
              <a:t> (safety), MT-Bench (helpfulness).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645" y="157316"/>
            <a:ext cx="6347713" cy="1320800"/>
          </a:xfrm>
        </p:spPr>
        <p:txBody>
          <a:bodyPr>
            <a:normAutofit/>
          </a:bodyPr>
          <a:lstStyle/>
          <a:p>
            <a:r>
              <a:rPr lang="en-US" dirty="0"/>
              <a:t>Results: Beavertails and Two Benign Datasets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1D8172-75F1-9F99-4A73-7312AF06F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6636"/>
            <a:ext cx="9144000" cy="52913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18410-FC85-182A-1196-A6E88771A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35974"/>
            <a:ext cx="6347713" cy="1320800"/>
          </a:xfrm>
        </p:spPr>
        <p:txBody>
          <a:bodyPr/>
          <a:lstStyle/>
          <a:p>
            <a:r>
              <a:rPr lang="en-US" dirty="0"/>
              <a:t>Results: Malicious-Gen and Two Benign Datasets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7FD36-5765-9F0C-DA27-AFC62B3A5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5277"/>
            <a:ext cx="9144000" cy="482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57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473B7A-CC15-B355-6F00-CD3E0637F1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731" y="1414082"/>
            <a:ext cx="7455945" cy="402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342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59C19-72A2-2114-B87E-25C8CB565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Plug and Play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E1812-7386-5EB9-E5E6-481BF1C7A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4774"/>
            <a:ext cx="9144000" cy="479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94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D49B-E0B5-0D4F-56C7-CC51EEB40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7EA28F-4F36-C44D-2D03-70D031EA69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477" y="2665495"/>
            <a:ext cx="7578111" cy="180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17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0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F412C1-AC71-6B90-3F17-4ACC25214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731" y="2336755"/>
            <a:ext cx="7455945" cy="218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69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226526"/>
            <a:ext cx="6347714" cy="3880773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Safety in </a:t>
            </a:r>
            <a:r>
              <a:rPr dirty="0" err="1"/>
              <a:t>FedIT</a:t>
            </a:r>
            <a:r>
              <a:rPr dirty="0"/>
              <a:t> is highly vulnerable.</a:t>
            </a:r>
          </a:p>
          <a:p>
            <a:pPr>
              <a:defRPr sz="2000"/>
            </a:pPr>
            <a:r>
              <a:rPr dirty="0"/>
              <a:t>Malicious clients can attack cheaply &amp; stealthily.</a:t>
            </a:r>
          </a:p>
          <a:p>
            <a:pPr>
              <a:defRPr sz="2000"/>
            </a:pPr>
            <a:r>
              <a:rPr dirty="0"/>
              <a:t>Post-hoc server-side defense is effective</a:t>
            </a:r>
            <a:r>
              <a:rPr lang="en-US" dirty="0"/>
              <a:t> and </a:t>
            </a:r>
            <a:r>
              <a:rPr dirty="0"/>
              <a:t>scalable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921" y="1295351"/>
            <a:ext cx="6347714" cy="3880773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First paper to expose safety risks in </a:t>
            </a:r>
            <a:r>
              <a:rPr dirty="0" err="1"/>
              <a:t>FedIT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Novel safety attack + effective defense.</a:t>
            </a:r>
          </a:p>
          <a:p>
            <a:pPr>
              <a:defRPr sz="2000"/>
            </a:pPr>
            <a:r>
              <a:rPr dirty="0"/>
              <a:t>Roadmap: Train collaboratively via </a:t>
            </a:r>
            <a:r>
              <a:rPr dirty="0" err="1"/>
              <a:t>FedIT</a:t>
            </a:r>
            <a:r>
              <a:rPr dirty="0"/>
              <a:t> → Apply post-training safety alignment.</a:t>
            </a:r>
          </a:p>
          <a:p>
            <a:pPr>
              <a:defRPr sz="2000"/>
            </a:pPr>
            <a:r>
              <a:rPr dirty="0"/>
              <a:t>Ensures responsible deployment of LLMs.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 1: Expanding Attack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What can be improved?</a:t>
            </a:r>
          </a:p>
          <a:p>
            <a:pPr lvl="1"/>
            <a:r>
              <a:rPr dirty="0"/>
              <a:t>Current study only considers data poisoning attacks.</a:t>
            </a:r>
          </a:p>
          <a:p>
            <a:pPr lvl="1"/>
            <a:r>
              <a:rPr dirty="0"/>
              <a:t>Real attackers may use multiple strategies together.</a:t>
            </a:r>
          </a:p>
          <a:p>
            <a:endParaRPr dirty="0"/>
          </a:p>
          <a:p>
            <a:r>
              <a:rPr dirty="0"/>
              <a:t>How will we improve it?</a:t>
            </a:r>
          </a:p>
          <a:p>
            <a:pPr lvl="1"/>
            <a:r>
              <a:rPr dirty="0"/>
              <a:t>Simulate hybrid attacks by combining data poisoning and model poisoning.</a:t>
            </a:r>
          </a:p>
          <a:p>
            <a:pPr lvl="1"/>
            <a:r>
              <a:rPr dirty="0"/>
              <a:t>Test defenses against adaptive attackers who change strategies.</a:t>
            </a:r>
          </a:p>
          <a:p>
            <a:pPr lvl="1"/>
            <a:r>
              <a:rPr dirty="0"/>
              <a:t>Measure safety and helpfulness impact under these stronger threats.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 2: Enhancing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What can be improved?</a:t>
            </a:r>
          </a:p>
          <a:p>
            <a:pPr lvl="1"/>
            <a:r>
              <a:rPr dirty="0"/>
              <a:t>Current evaluation uses limited benchmarks.</a:t>
            </a:r>
          </a:p>
          <a:p>
            <a:pPr lvl="1"/>
            <a:r>
              <a:rPr dirty="0"/>
              <a:t>Real-world misuse often happens in multi-turn or long conversations.</a:t>
            </a:r>
          </a:p>
          <a:p>
            <a:endParaRPr dirty="0"/>
          </a:p>
          <a:p>
            <a:r>
              <a:rPr dirty="0"/>
              <a:t>How will we improve it?</a:t>
            </a:r>
          </a:p>
          <a:p>
            <a:pPr lvl="1"/>
            <a:r>
              <a:rPr dirty="0"/>
              <a:t>Add multi-turn dialogue benchmarks to test sustained safety.</a:t>
            </a:r>
          </a:p>
          <a:p>
            <a:pPr lvl="1"/>
            <a:r>
              <a:rPr dirty="0"/>
              <a:t>Run dynamic stress tests like contextual jailbreaks and long-context attacks.</a:t>
            </a:r>
          </a:p>
          <a:p>
            <a:pPr lvl="1"/>
            <a:r>
              <a:rPr dirty="0"/>
              <a:t>Compare results across broader alignment datasets for robustness.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DE41-54E3-61A1-9DB3-40FC0DF5F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 3: Evaluating Attacking Scenarios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3D58C-2305-A806-F36E-D6D5CC23C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can be improved</a:t>
            </a:r>
          </a:p>
          <a:p>
            <a:pPr lvl="1"/>
            <a:r>
              <a:rPr lang="en-US" dirty="0"/>
              <a:t>The safety evaluation capabilities of LLMs</a:t>
            </a:r>
          </a:p>
          <a:p>
            <a:pPr lvl="1"/>
            <a:r>
              <a:rPr lang="en-US" dirty="0"/>
              <a:t>In which type of attacks do the LLMs struggle the most?</a:t>
            </a:r>
          </a:p>
          <a:p>
            <a:pPr lvl="1"/>
            <a:endParaRPr lang="en-US" dirty="0"/>
          </a:p>
          <a:p>
            <a:r>
              <a:rPr lang="en-US" dirty="0"/>
              <a:t>How we will evaluate it</a:t>
            </a:r>
          </a:p>
          <a:p>
            <a:pPr lvl="1"/>
            <a:r>
              <a:rPr lang="en-US" dirty="0"/>
              <a:t>Through Single-turn and multi-turn interventions</a:t>
            </a:r>
          </a:p>
          <a:p>
            <a:pPr lvl="1"/>
            <a:r>
              <a:rPr lang="en-US" dirty="0"/>
              <a:t>Evaluating the FIT LLMs against different attack types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238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48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50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51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52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97C257-D348-75B0-9A92-F76BD79D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265314"/>
            <a:ext cx="3224750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50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en-US" sz="50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41" name="Graphic 40" descr="Questions">
            <a:extLst>
              <a:ext uri="{FF2B5EF4-FFF2-40B4-BE49-F238E27FC236}">
                <a16:creationId xmlns:a16="http://schemas.microsoft.com/office/drawing/2014/main" id="{2AD6EC3B-F399-F6B7-255E-64F0D1CC1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53" y="2020850"/>
            <a:ext cx="2824269" cy="282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1718</TotalTime>
  <Words>650</Words>
  <Application>Microsoft Office PowerPoint</Application>
  <PresentationFormat>On-screen Show (4:3)</PresentationFormat>
  <Paragraphs>100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PT Sans</vt:lpstr>
      <vt:lpstr>Trebuchet MS</vt:lpstr>
      <vt:lpstr>Trebuchet MS (Body)</vt:lpstr>
      <vt:lpstr>Wingdings 3</vt:lpstr>
      <vt:lpstr>Facet</vt:lpstr>
      <vt:lpstr>Emerging Safety Attack and Defense in Federated Instruction Tuning of Large Language Models</vt:lpstr>
      <vt:lpstr>Learning Objectives</vt:lpstr>
      <vt:lpstr>The Challenge of FedIT</vt:lpstr>
      <vt:lpstr>The Stealthy Safety Attack </vt:lpstr>
      <vt:lpstr>Research Questions</vt:lpstr>
      <vt:lpstr>Why Existing Defenses Fail?</vt:lpstr>
      <vt:lpstr>Why Existing Defenses Fail</vt:lpstr>
      <vt:lpstr>Proposed Post-Hoc Defense</vt:lpstr>
      <vt:lpstr>Proposed Post-Hoc Defense</vt:lpstr>
      <vt:lpstr>PowerPoint Presentation</vt:lpstr>
      <vt:lpstr>Experimental Setup</vt:lpstr>
      <vt:lpstr>Results: Beavertails and Two Benign Datasets</vt:lpstr>
      <vt:lpstr>Results: Malicious-Gen and Two Benign Datasets</vt:lpstr>
      <vt:lpstr>PowerPoint Presentation</vt:lpstr>
      <vt:lpstr>Plug and Play</vt:lpstr>
      <vt:lpstr>Scalability</vt:lpstr>
      <vt:lpstr>PowerPoint Presentation</vt:lpstr>
      <vt:lpstr>Key Insights</vt:lpstr>
      <vt:lpstr>Conclusion</vt:lpstr>
      <vt:lpstr>Improvement 1: Expanding Attack Scenarios</vt:lpstr>
      <vt:lpstr>Improvement 2: Enhancing Evaluation</vt:lpstr>
      <vt:lpstr>Improvement 3: Evaluating Attacking Scenarios</vt:lpstr>
      <vt:lpstr>Thank You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Maha Zainab</cp:lastModifiedBy>
  <cp:revision>19</cp:revision>
  <dcterms:created xsi:type="dcterms:W3CDTF">2013-01-27T09:14:16Z</dcterms:created>
  <dcterms:modified xsi:type="dcterms:W3CDTF">2025-09-19T18:13:21Z</dcterms:modified>
  <cp:category/>
</cp:coreProperties>
</file>