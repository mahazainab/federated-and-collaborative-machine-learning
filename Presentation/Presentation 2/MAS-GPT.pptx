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6" r:id="rId4"/>
  </p:sldMasterIdLst>
  <p:notesMasterIdLst>
    <p:notesMasterId r:id="rId21"/>
  </p:notesMasterIdLst>
  <p:handoutMasterIdLst>
    <p:handoutMasterId r:id="rId22"/>
  </p:handoutMasterIdLst>
  <p:sldIdLst>
    <p:sldId id="315" r:id="rId5"/>
    <p:sldId id="266" r:id="rId6"/>
    <p:sldId id="318" r:id="rId7"/>
    <p:sldId id="319" r:id="rId8"/>
    <p:sldId id="320" r:id="rId9"/>
    <p:sldId id="329" r:id="rId10"/>
    <p:sldId id="321" r:id="rId11"/>
    <p:sldId id="322" r:id="rId12"/>
    <p:sldId id="330" r:id="rId13"/>
    <p:sldId id="323" r:id="rId14"/>
    <p:sldId id="324" r:id="rId15"/>
    <p:sldId id="326" r:id="rId16"/>
    <p:sldId id="325" r:id="rId17"/>
    <p:sldId id="327" r:id="rId18"/>
    <p:sldId id="328" r:id="rId19"/>
    <p:sldId id="29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017FBB-B660-4700-BAC2-26752148AFA8}" v="30" dt="2025-11-12T00:11:49.336"/>
  </p1510:revLst>
</p1510:revInfo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76" d="100"/>
          <a:sy n="76" d="100"/>
        </p:scale>
        <p:origin x="62" y="19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Maha Zainab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PK"/>
              <a:t>11/11/2025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33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38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708" r:id="rId13"/>
    <p:sldLayoutId id="2147483709" r:id="rId14"/>
    <p:sldLayoutId id="2147483682" r:id="rId15"/>
  </p:sldLayoutIdLst>
  <p:hf hdr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MAS-GPT: Training LLMs to build LLM-based multi-agent systems</a:t>
            </a:r>
            <a:br>
              <a:rPr lang="en-US" dirty="0"/>
            </a:br>
            <a:r>
              <a:rPr lang="en-US" sz="1300" dirty="0"/>
              <a:t>Authors: </a:t>
            </a:r>
            <a:r>
              <a:rPr lang="en-US" sz="1300" b="0" dirty="0"/>
              <a:t>Rui Ye, Shuo Tang, Rui </a:t>
            </a:r>
            <a:r>
              <a:rPr lang="en-US" sz="1300" b="0" dirty="0" err="1"/>
              <a:t>ge</a:t>
            </a:r>
            <a:r>
              <a:rPr lang="en-US" sz="1300" b="0" dirty="0"/>
              <a:t>, Yaxin Du, </a:t>
            </a:r>
            <a:r>
              <a:rPr lang="en-US" sz="1300" b="0" dirty="0" err="1"/>
              <a:t>Zhenfei</a:t>
            </a:r>
            <a:r>
              <a:rPr lang="en-US" sz="1300" b="0" dirty="0"/>
              <a:t> Yin, </a:t>
            </a:r>
            <a:r>
              <a:rPr lang="en-US" sz="1300" b="0" dirty="0" err="1"/>
              <a:t>Siheng</a:t>
            </a:r>
            <a:r>
              <a:rPr lang="en-US" sz="1300" b="0" dirty="0"/>
              <a:t> Chen, Jing Shao</a:t>
            </a:r>
            <a:br>
              <a:rPr lang="en-US" sz="1300" b="0" dirty="0"/>
            </a:br>
            <a:br>
              <a:rPr lang="en-US" sz="1300" b="0" dirty="0"/>
            </a:br>
            <a:r>
              <a:rPr lang="en-US" sz="1300" dirty="0"/>
              <a:t>Presented by: </a:t>
            </a:r>
            <a:r>
              <a:rPr lang="en-US" sz="1300" b="0" dirty="0"/>
              <a:t>maha Zainab</a:t>
            </a:r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26" y="208547"/>
            <a:ext cx="6623040" cy="778558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7399" y="1187116"/>
            <a:ext cx="6622819" cy="4828673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</a:p>
          <a:p>
            <a:r>
              <a:rPr lang="en-US" dirty="0"/>
              <a:t>Research Contribution</a:t>
            </a:r>
          </a:p>
          <a:p>
            <a:r>
              <a:rPr lang="en-US" dirty="0"/>
              <a:t>Challenges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Framework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Strengths and Weaknesses</a:t>
            </a:r>
          </a:p>
          <a:p>
            <a:r>
              <a:rPr lang="en-US" dirty="0"/>
              <a:t>Extension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73855-F39F-52F1-A757-BA1E91C0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42EEA0-786B-7C5E-C318-6CE63BB5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C7169-935A-6EC7-5937-11DB6A2F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65BEC9-9A64-4330-A094-2323D0EE1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7891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1DA58A-A755-4FCE-9BED-1E4AD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146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6530ADB-C77B-1E2C-C994-0FC923494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875" y="1505403"/>
            <a:ext cx="9558251" cy="38471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8C60C-FEC0-D798-0BCA-03EBED0CE0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8867" y="6308725"/>
            <a:ext cx="2696018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11/11/2025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28C43-4509-D56B-2855-83600A3C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2675" y="6308725"/>
            <a:ext cx="4946650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rPr>
              <a:t>Maha Zainab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D7B67-1CCB-4AF4-2E7C-12501F32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1304" y="6308725"/>
            <a:ext cx="979488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14EFBA-DEC5-4782-9B45-CEF1661DB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21586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4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87D0-F0CF-96EF-83A3-E0916170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474D11E-D4CB-D772-F465-EF4BEA9692A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20629"/>
            <a:ext cx="9918700" cy="338757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LLMs: Struggle with complex, multi-step, or domain-diverse tasks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Multi-Agent Systems: Multiple LLMs to collaborate, improving reasoning and task decomposition.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	Manually Designed, Costly, and Static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To automate MAS construction by enabling an LLM to generate executable multi-agent systems dynamically	</a:t>
            </a:r>
          </a:p>
          <a:p>
            <a:pPr algn="l"/>
            <a:endParaRPr lang="en-US" dirty="0"/>
          </a:p>
          <a:p>
            <a:pPr algn="l"/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C2132-B14F-AD0F-26AE-5E5EB552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A5CE-5640-B01B-8C07-F3074CF3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48EAF5F-1FBF-3B10-21E9-45FF1B26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94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B5601-40B2-061B-EEB1-E318EF5F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Contributions</a:t>
            </a: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7182BFC-0A66-169D-0ABF-693290F67CE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337186" y="2757951"/>
            <a:ext cx="10481187" cy="3387579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/>
              <a:t>1. We reframe building MAS for each query as a generative language task. We unify the representation of MAS as executable code and propose a consistency-oriented query-MAS data construction pipeline for LLM training.</a:t>
            </a:r>
          </a:p>
          <a:p>
            <a:pPr algn="l"/>
            <a:r>
              <a:rPr lang="en-US" dirty="0"/>
              <a:t>2. We introduce MAS-GPT, an LLM specifically trained to generate query-specific executable MAS. All code, data and models will be open-sourced.</a:t>
            </a:r>
          </a:p>
          <a:p>
            <a:pPr algn="l"/>
            <a:r>
              <a:rPr lang="en-US" dirty="0"/>
              <a:t>3. Experiments on 9 benchmarks and 5 LLMs show that MAS-GPT consistently outperforms 10+ baselines, indicating its effectiveness, efficiency, and generalization ability.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780ED-761E-6C15-659C-79E109E5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E33E7-C270-0A87-8CAD-1BA6433C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DFD590-5227-6ACE-6FEC-085F806C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19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13AE-53BB-6088-F509-BD55F22C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PK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31AF685-011B-EAA9-358D-41FA76ED316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algn="l"/>
            <a:r>
              <a:rPr lang="en-US" dirty="0"/>
              <a:t>The limited knowledge of LLMs on the task of MAS generation</a:t>
            </a:r>
          </a:p>
          <a:p>
            <a:pPr algn="l"/>
            <a:r>
              <a:rPr lang="en-US" dirty="0"/>
              <a:t>and the lack of corresponding training data.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How to represent the MAS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dirty="0"/>
              <a:t>How to construct the dataset 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C0203B-9DD7-560A-CB5D-22883334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7633E-7E2D-2D3E-7EB7-89C6BFEA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7E4ECBD-B027-046A-8EBC-C14FAC454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85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2E8E1-FBA6-A168-FC7D-206042B37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>
                <a:solidFill>
                  <a:schemeClr val="tx1">
                    <a:lumMod val="75000"/>
                    <a:lumOff val="25000"/>
                  </a:schemeClr>
                </a:solidFill>
              </a:rPr>
              <a:t>Methodology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60C0F7-61A6-4E64-A77E-AFBD8112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AAFE06EA-2417-6776-3009-6CBBF3B41A8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47204" y="2542569"/>
            <a:ext cx="3616073" cy="2840139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/>
              <a:t>User query: a multiagent system (MAS) is constructed</a:t>
            </a:r>
          </a:p>
          <a:p>
            <a:pPr algn="l">
              <a:lnSpc>
                <a:spcPct val="130000"/>
              </a:lnSpc>
            </a:pPr>
            <a:r>
              <a:rPr lang="en-US"/>
              <a:t>Multiple agents working collaboratively to generate the final answer. </a:t>
            </a:r>
          </a:p>
          <a:p>
            <a:pPr algn="l">
              <a:lnSpc>
                <a:spcPct val="130000"/>
              </a:lnSpc>
            </a:pP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33A2C4-DAEE-A6B7-8E75-90736969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349" y="1295962"/>
            <a:ext cx="6205200" cy="426607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F2F6EFA-6DF0-F8B8-3067-F89DC99A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17" y="6309360"/>
            <a:ext cx="3411973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11/11/2025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852DA-C909-FB48-13EB-DA56F5A9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76670" y="6309360"/>
            <a:ext cx="4946592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rPr>
              <a:t>Maha Zainab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3B845-9ACA-42DA-DD0B-DD86609A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z="1600" b="1" smtClean="0"/>
              <a:pPr>
                <a:spcAft>
                  <a:spcPts val="600"/>
                </a:spcAft>
              </a:pPr>
              <a:t>7</a:t>
            </a:fld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511381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22B3-69A1-C4E1-EC93-A66ABA192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543" y="120581"/>
            <a:ext cx="8048905" cy="571028"/>
          </a:xfrm>
        </p:spPr>
        <p:txBody>
          <a:bodyPr>
            <a:normAutofit fontScale="90000"/>
          </a:bodyPr>
          <a:lstStyle/>
          <a:p>
            <a:r>
              <a:rPr lang="en-US" dirty="0"/>
              <a:t>Framework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B0C5D7-70C9-3FFF-EC1A-CFA4E021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1DE3F-5A48-EC32-3A84-1518F68F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AF005-02BC-E685-6886-AD0A5A25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6DF8A-0D13-7F16-E2F2-3687EF782C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93"/>
          <a:stretch>
            <a:fillRect/>
          </a:stretch>
        </p:blipFill>
        <p:spPr>
          <a:xfrm>
            <a:off x="80388" y="1095271"/>
            <a:ext cx="12192000" cy="49743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9553063-9D6D-F868-1EFF-D8793E8701D9}"/>
              </a:ext>
            </a:extLst>
          </p:cNvPr>
          <p:cNvSpPr txBox="1">
            <a:spLocks/>
          </p:cNvSpPr>
          <p:nvPr/>
        </p:nvSpPr>
        <p:spPr>
          <a:xfrm>
            <a:off x="1535371" y="962423"/>
            <a:ext cx="10013710" cy="1216152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0857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0CE47-6DCE-50B3-5B32-FE7F1DC8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0C367-71CC-AB5D-730C-7108CB25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66A62-046F-44C6-7C66-7BCB8B9E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B067FA-9573-CB6D-148E-EB05E83E0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181" y="0"/>
            <a:ext cx="5489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A0928-E3BF-936A-9FED-9602DC13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E4B49-59A2-C2AD-BF91-8139EAC3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6D0B0-5110-3E00-B878-F805245C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0E8D6D-CFC2-2E96-F55E-72A99FCF8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9933"/>
            <a:ext cx="12192000" cy="45174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0C07EE-B122-628D-B22B-A0C37CD86569}"/>
              </a:ext>
            </a:extLst>
          </p:cNvPr>
          <p:cNvSpPr txBox="1"/>
          <p:nvPr/>
        </p:nvSpPr>
        <p:spPr>
          <a:xfrm>
            <a:off x="1698172" y="140677"/>
            <a:ext cx="1968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Results</a:t>
            </a:r>
            <a:endParaRPr lang="en-PK" sz="3600" b="1" dirty="0"/>
          </a:p>
        </p:txBody>
      </p:sp>
    </p:spTree>
    <p:extLst>
      <p:ext uri="{BB962C8B-B14F-4D97-AF65-F5344CB8AC3E}">
        <p14:creationId xmlns:p14="http://schemas.microsoft.com/office/powerpoint/2010/main" val="2988405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723A0-D41B-4C41-8D49-B56A87465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467"/>
            <a:ext cx="642915" cy="55710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5D9EC3-EC76-770E-EDA8-556D8B2288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14"/>
          <a:stretch>
            <a:fillRect/>
          </a:stretch>
        </p:blipFill>
        <p:spPr>
          <a:xfrm>
            <a:off x="1434332" y="1738365"/>
            <a:ext cx="9995761" cy="383674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8E2193-D83A-4F93-AA5A-6B128ADC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15" y="6214533"/>
            <a:ext cx="11599127" cy="64346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65BEC9-9A64-4330-A094-2323D0EE1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7891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1DA58A-A755-4FCE-9BED-1E4AD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146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02CEE-FA50-DFDB-0381-1232CAE76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9536" y="6308725"/>
            <a:ext cx="4946650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rPr>
              <a:t>Maha Zainab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2EE99-B4D7-ABB9-BAFE-8B475677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2168" y="6308725"/>
            <a:ext cx="2148840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11/11/2025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64D84-4F52-98D7-1C97-EAB9C059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1304" y="6308725"/>
            <a:ext cx="979488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B2B5F8-C918-619C-1EE6-655E59DE69FA}"/>
              </a:ext>
            </a:extLst>
          </p:cNvPr>
          <p:cNvSpPr txBox="1"/>
          <p:nvPr/>
        </p:nvSpPr>
        <p:spPr>
          <a:xfrm>
            <a:off x="1668027" y="803868"/>
            <a:ext cx="1968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Results</a:t>
            </a:r>
            <a:endParaRPr lang="en-PK" sz="3600" b="1" dirty="0"/>
          </a:p>
        </p:txBody>
      </p:sp>
    </p:spTree>
    <p:extLst>
      <p:ext uri="{BB962C8B-B14F-4D97-AF65-F5344CB8AC3E}">
        <p14:creationId xmlns:p14="http://schemas.microsoft.com/office/powerpoint/2010/main" val="309278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723A0-D41B-4C41-8D49-B56A87465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467"/>
            <a:ext cx="642915" cy="55710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6B0C6A-686E-1CB3-DFB9-69F2A5422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188" y="1301923"/>
            <a:ext cx="10114050" cy="42731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8E2193-D83A-4F93-AA5A-6B128ADC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15" y="6214533"/>
            <a:ext cx="11599127" cy="643467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65BEC9-9A64-4330-A094-2323D0EE1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7891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1DA58A-A755-4FCE-9BED-1E4AD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146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601FF-D1C1-82AA-ECEB-CD6981BE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9536" y="6308725"/>
            <a:ext cx="4946650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rPr>
              <a:t>Maha Zainab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0BF1D-90E9-8698-94CF-614B71B8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2168" y="6308725"/>
            <a:ext cx="2148840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11/11/2025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22A6E-CD1D-2451-4F80-C5C2F08C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1304" y="6308725"/>
            <a:ext cx="979488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E51C2-FBCD-2031-B396-131E67B4C2CB}"/>
              </a:ext>
            </a:extLst>
          </p:cNvPr>
          <p:cNvSpPr txBox="1"/>
          <p:nvPr/>
        </p:nvSpPr>
        <p:spPr>
          <a:xfrm>
            <a:off x="1868994" y="723481"/>
            <a:ext cx="1968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Results</a:t>
            </a:r>
            <a:endParaRPr lang="en-PK" sz="3600" b="1" dirty="0"/>
          </a:p>
        </p:txBody>
      </p:sp>
    </p:spTree>
    <p:extLst>
      <p:ext uri="{BB962C8B-B14F-4D97-AF65-F5344CB8AC3E}">
        <p14:creationId xmlns:p14="http://schemas.microsoft.com/office/powerpoint/2010/main" val="30038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EFDA3-52F1-B8CA-09A6-F8F8EB18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Generality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C775DE3-D475-55FB-3798-67F44BDDD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9282" y="704850"/>
            <a:ext cx="5147361" cy="51974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84184-370B-44BB-BEFE-20305F99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1C2D5-0D83-5DBC-D7D8-B2042947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3D52-123D-8CBD-F7F2-619CFB6A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177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BB2F-A40D-3719-4B2A-1F3625E3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Weaknesses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49739-2B8A-D365-EC93-046E1E1101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dirty="0"/>
              <a:t>Thorough experiments with diverse benchmarks and backbones validate the generality and effectiveness of MAS-GPT.</a:t>
            </a:r>
          </a:p>
          <a:p>
            <a:r>
              <a:rPr lang="en-US" b="0" dirty="0"/>
              <a:t>MAS-GPT significantly reduces the complexity of designing and deploying MAS for a wide range of tasks.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0BBD0-2680-1094-906A-357ED16B84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dirty="0"/>
              <a:t>Most the performance improvement seems coming from the GSM-H dataset. Improvements on other datasets are small and seems randomness.</a:t>
            </a:r>
            <a:endParaRPr lang="en-P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A5780-E81B-79FD-1A2C-34D740F4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PK"/>
              <a:t>11/11/2025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3C3F0-346B-791A-56EF-EB747290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Maha Zainab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FE999-06B7-0302-3F3B-EA3FCFEDE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350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99405E2-1A96-4DBA-A9DC-4C2A1B421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2FF329-3A87-4F66-BA01-91CD63C8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3D pattern of ring shapes connected by lines">
            <a:extLst>
              <a:ext uri="{FF2B5EF4-FFF2-40B4-BE49-F238E27FC236}">
                <a16:creationId xmlns:a16="http://schemas.microsoft.com/office/drawing/2014/main" id="{8B538315-BB59-8E2B-6259-164848E36A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75" r="43098"/>
          <a:stretch>
            <a:fillRect/>
          </a:stretch>
        </p:blipFill>
        <p:spPr>
          <a:xfrm>
            <a:off x="20" y="719747"/>
            <a:ext cx="4458058" cy="53896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CF4857D-F003-4CA1-82AB-00900B10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855050-A75B-4DD0-9B56-8B1C7722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B5288-51F6-21F9-32AD-1ACF2FFA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>
                <a:solidFill>
                  <a:schemeClr val="tx1">
                    <a:lumMod val="75000"/>
                    <a:lumOff val="25000"/>
                  </a:schemeClr>
                </a:solidFill>
              </a:rPr>
              <a:t>Extension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6738EB-6FF0-4AF9-8462-57F4494B8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6FE5D4E-D130-AFAA-B9FC-663699AC658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921857" y="2268656"/>
            <a:ext cx="6627226" cy="3505938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500"/>
              <a:t>Integrate Reinforcement : MAS-GPT generates an entire MAS system once per query, no iterative correction or adaptation.</a:t>
            </a:r>
          </a:p>
          <a:p>
            <a:pPr algn="l">
              <a:lnSpc>
                <a:spcPct val="130000"/>
              </a:lnSpc>
            </a:pPr>
            <a:r>
              <a:rPr lang="en-US" sz="1500"/>
              <a:t>Add reinforcement learning or self-improving feedback loops where MAS-GPT evaluates and revises its generated systems based on performance or feedback.</a:t>
            </a:r>
          </a:p>
          <a:p>
            <a:pPr algn="l">
              <a:lnSpc>
                <a:spcPct val="130000"/>
              </a:lnSpc>
            </a:pPr>
            <a:r>
              <a:rPr lang="en-US" sz="1500"/>
              <a:t>Self-evaluate</a:t>
            </a:r>
          </a:p>
          <a:p>
            <a:pPr algn="l">
              <a:lnSpc>
                <a:spcPct val="130000"/>
              </a:lnSpc>
            </a:pPr>
            <a:r>
              <a:rPr lang="en-US" sz="1500"/>
              <a:t>Self Correct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F62498-EB47-BF7F-B96B-AF51D263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17" y="6309360"/>
            <a:ext cx="3411973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11/11/2025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791336-FCAA-4174-9303-B3F374861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212158-300D-44D0-9CCE-472C3F669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8521F4-D44A-42C5-9BDB-5CA25554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4E702-FF52-F401-1B9C-83DC269A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21857" y="6309360"/>
            <a:ext cx="5401405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rPr>
              <a:t>Maha Zainab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B341-1B2F-8C4B-1984-20D6CAAD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z="1600" b="1" smtClean="0"/>
              <a:pPr>
                <a:spcAft>
                  <a:spcPts val="600"/>
                </a:spcAft>
              </a:pPr>
              <a:t>15</a:t>
            </a:fld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2210384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3" y="1057522"/>
            <a:ext cx="4741843" cy="2173433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4400" b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55816F-F516-477A-8EF2-D8CA20267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5104" y="3751119"/>
            <a:ext cx="4797502" cy="1606163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/>
              <a:t>Any questions?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B2072-231D-85D0-5CA3-3A7B4E6A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5103" y="6309360"/>
            <a:ext cx="4797504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rPr>
              <a:t>Maha Zainab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A56255-4961-41E1-887B-7319F23C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CAD65F-AAC9-4CC9-B5F5-E963F24F4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936" y="-1"/>
            <a:ext cx="5332064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1C0527F0-1A7E-04C1-39EE-1C79827AD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4569" y="1215596"/>
            <a:ext cx="4362798" cy="436279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A1B482-16F7-94FC-9F8C-9B0A21CC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 vert="horz" lIns="109728" tIns="109728" rIns="109728" bIns="9144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11/11/2025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5BBFD-D484-86BD-1E95-E6ACC780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spcAft>
                <a:spcPts val="600"/>
              </a:spcAft>
            </a:pPr>
            <a:fld id="{FAEF9944-A4F6-4C59-AEBD-678D6480B8EA}" type="slidenum">
              <a:rPr lang="en-US" sz="1600" b="1" smtClean="0"/>
              <a:pPr>
                <a:spcAft>
                  <a:spcPts val="600"/>
                </a:spcAft>
              </a:pPr>
              <a:t>16</a:t>
            </a:fld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Shoji design</Template>
  <TotalTime>203</TotalTime>
  <Words>419</Words>
  <Application>Microsoft Office PowerPoint</Application>
  <PresentationFormat>Widescreen</PresentationFormat>
  <Paragraphs>91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Meiryo</vt:lpstr>
      <vt:lpstr>Arial</vt:lpstr>
      <vt:lpstr>Calibri</vt:lpstr>
      <vt:lpstr>Corbel</vt:lpstr>
      <vt:lpstr>ShojiVTI</vt:lpstr>
      <vt:lpstr>MAS-GPT: Training LLMs to build LLM-based multi-agent systems Authors: Rui Ye, Shuo Tang, Rui ge, Yaxin Du, Zhenfei Yin, Siheng Chen, Jing Shao  Presented by: maha Zainab</vt:lpstr>
      <vt:lpstr>Agenda</vt:lpstr>
      <vt:lpstr>PowerPoint Presentation</vt:lpstr>
      <vt:lpstr>Motivation</vt:lpstr>
      <vt:lpstr>Research Contributions</vt:lpstr>
      <vt:lpstr>Challenges</vt:lpstr>
      <vt:lpstr>Methodology</vt:lpstr>
      <vt:lpstr>Framework</vt:lpstr>
      <vt:lpstr>PowerPoint Presentation</vt:lpstr>
      <vt:lpstr>PowerPoint Presentation</vt:lpstr>
      <vt:lpstr>PowerPoint Presentation</vt:lpstr>
      <vt:lpstr>PowerPoint Presentation</vt:lpstr>
      <vt:lpstr>Generality</vt:lpstr>
      <vt:lpstr>Strengths   Weaknesses</vt:lpstr>
      <vt:lpstr>Extension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 Zainab</dc:creator>
  <cp:lastModifiedBy>Maha Zainab</cp:lastModifiedBy>
  <cp:revision>5</cp:revision>
  <dcterms:created xsi:type="dcterms:W3CDTF">2025-11-11T22:04:07Z</dcterms:created>
  <dcterms:modified xsi:type="dcterms:W3CDTF">2025-11-12T17:41:16Z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